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F9FAF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F9FAF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F9FAF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F9FAF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7850" y="285813"/>
            <a:ext cx="5158740" cy="806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F9FAF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92424" y="1050440"/>
            <a:ext cx="7442834" cy="3180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7850" y="6483958"/>
            <a:ext cx="1534795" cy="16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CA3AF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vecteezy.com/" TargetMode="External" /><Relationship Id="rId3" Type="http://schemas.openxmlformats.org/officeDocument/2006/relationships/hyperlink" Target="https://img.freepik.com/premium-vector/global-cybersecurity-network-background-with-world-map-data-connections_7" TargetMode="External" /><Relationship Id="rId7" Type="http://schemas.openxmlformats.org/officeDocument/2006/relationships/hyperlink" Target="https://static.vecteezy.com/system/resources/previews/067/868/466/non_2" TargetMode="External" /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://www.inboxally.com/" TargetMode="External" /><Relationship Id="rId5" Type="http://schemas.openxmlformats.org/officeDocument/2006/relationships/hyperlink" Target="https://www.inboxally.com/wp-content/uploads/2025/02/email-metadata.png" TargetMode="External" /><Relationship Id="rId10" Type="http://schemas.openxmlformats.org/officeDocument/2006/relationships/hyperlink" Target="http://www.visily.ai/" TargetMode="External" /><Relationship Id="rId4" Type="http://schemas.openxmlformats.org/officeDocument/2006/relationships/hyperlink" Target="http://www.freepik.com/" TargetMode="External" /><Relationship Id="rId9" Type="http://schemas.openxmlformats.org/officeDocument/2006/relationships/hyperlink" Target="https://www.visily.ai/wp-content/uploads/2025/03/How-Does-a-Drag-and-Drop-Wireframe-Tool-Work_-1024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390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8154" y="3436301"/>
            <a:ext cx="4660265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500" b="1" spc="-90" dirty="0">
                <a:solidFill>
                  <a:srgbClr val="F9FAFB"/>
                </a:solidFill>
                <a:latin typeface="Trebuchet MS"/>
                <a:cs typeface="Trebuchet MS"/>
              </a:rPr>
              <a:t>DIGITAL</a:t>
            </a:r>
            <a:r>
              <a:rPr sz="4500" b="1" spc="-300" dirty="0">
                <a:solidFill>
                  <a:srgbClr val="F9FAFB"/>
                </a:solidFill>
                <a:latin typeface="Trebuchet MS"/>
                <a:cs typeface="Trebuchet MS"/>
              </a:rPr>
              <a:t> </a:t>
            </a:r>
            <a:r>
              <a:rPr sz="4500" b="1" spc="-10" dirty="0">
                <a:solidFill>
                  <a:srgbClr val="F9FAFB"/>
                </a:solidFill>
                <a:latin typeface="Trebuchet MS"/>
                <a:cs typeface="Trebuchet MS"/>
              </a:rPr>
              <a:t>EXHAUST</a:t>
            </a:r>
            <a:endParaRPr sz="4500" dirty="0">
              <a:latin typeface="Trebuchet MS"/>
              <a:cs typeface="Trebuchet MS"/>
            </a:endParaRPr>
          </a:p>
          <a:p>
            <a:pPr marL="777240" marR="763905" algn="ctr">
              <a:lnSpc>
                <a:spcPct val="100899"/>
              </a:lnSpc>
              <a:spcBef>
                <a:spcPts val="1235"/>
              </a:spcBef>
            </a:pPr>
            <a:r>
              <a:rPr sz="1350" spc="-25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350" spc="-21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9CA3AF"/>
                </a:solidFill>
                <a:latin typeface="Verdana"/>
                <a:cs typeface="Verdana"/>
              </a:rPr>
              <a:t>Privacy</a:t>
            </a:r>
            <a:r>
              <a:rPr sz="1350" spc="-204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9CA3AF"/>
                </a:solidFill>
                <a:latin typeface="Verdana"/>
                <a:cs typeface="Verdana"/>
              </a:rPr>
              <a:t>Risks</a:t>
            </a:r>
            <a:r>
              <a:rPr sz="1350" spc="-204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350" spc="135" dirty="0">
                <a:solidFill>
                  <a:srgbClr val="9CA3AF"/>
                </a:solidFill>
                <a:latin typeface="Verdana"/>
                <a:cs typeface="Verdana"/>
              </a:rPr>
              <a:t>h</a:t>
            </a:r>
            <a:r>
              <a:rPr sz="1350" spc="-204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9CA3AF"/>
                </a:solidFill>
                <a:latin typeface="Verdana"/>
                <a:cs typeface="Verdana"/>
              </a:rPr>
              <a:t>Mitigation</a:t>
            </a:r>
            <a:r>
              <a:rPr sz="1350" spc="-204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9CA3AF"/>
                </a:solidFill>
                <a:latin typeface="Verdana"/>
                <a:cs typeface="Verdana"/>
              </a:rPr>
              <a:t>via </a:t>
            </a:r>
            <a:r>
              <a:rPr sz="1350" spc="-20" dirty="0">
                <a:solidFill>
                  <a:srgbClr val="9CA3AF"/>
                </a:solidFill>
                <a:latin typeface="Verdana"/>
                <a:cs typeface="Verdana"/>
              </a:rPr>
              <a:t>MAT2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550" y="6507208"/>
            <a:ext cx="1609090" cy="13716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30"/>
              </a:lnSpc>
            </a:pPr>
            <a:r>
              <a:rPr sz="900" spc="-30" dirty="0">
                <a:solidFill>
                  <a:srgbClr val="9CA3AF"/>
                </a:solidFill>
                <a:latin typeface="Verdana"/>
                <a:cs typeface="Verdana"/>
              </a:rPr>
              <a:t>Introduction</a:t>
            </a:r>
            <a:r>
              <a:rPr sz="900" spc="-12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9CA3AF"/>
                </a:solidFill>
                <a:latin typeface="Verdana"/>
                <a:cs typeface="Verdana"/>
              </a:rPr>
              <a:t>to</a:t>
            </a:r>
            <a:r>
              <a:rPr sz="900" spc="-12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Cybersecurity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7600" y="6488302"/>
            <a:ext cx="824230" cy="30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9CA3AF"/>
                </a:solidFill>
                <a:latin typeface="Verdana"/>
                <a:cs typeface="Verdana"/>
              </a:rPr>
              <a:t>Department</a:t>
            </a:r>
            <a:r>
              <a:rPr sz="900" spc="-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of </a:t>
            </a:r>
            <a:r>
              <a:rPr sz="900" spc="-10" dirty="0">
                <a:solidFill>
                  <a:srgbClr val="9CA3AF"/>
                </a:solidFill>
                <a:latin typeface="Verdana"/>
                <a:cs typeface="Verdana"/>
              </a:rPr>
              <a:t>Cybersecurity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850" y="285813"/>
            <a:ext cx="3501390" cy="8064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pc="-235" dirty="0"/>
              <a:t>What</a:t>
            </a:r>
            <a:r>
              <a:rPr spc="-585" dirty="0"/>
              <a:t> </a:t>
            </a:r>
            <a:r>
              <a:rPr spc="-450" dirty="0"/>
              <a:t>Is</a:t>
            </a:r>
            <a:r>
              <a:rPr spc="-580" dirty="0"/>
              <a:t> </a:t>
            </a:r>
            <a:r>
              <a:rPr spc="-155" dirty="0"/>
              <a:t>Metadata?</a:t>
            </a:r>
            <a:r>
              <a:rPr spc="-615" dirty="0"/>
              <a:t> </a:t>
            </a:r>
            <a:r>
              <a:rPr b="0" spc="-235" dirty="0">
                <a:solidFill>
                  <a:srgbClr val="00F2FE"/>
                </a:solidFill>
                <a:latin typeface="Verdana"/>
                <a:cs typeface="Verdana"/>
              </a:rPr>
              <a:t>01</a:t>
            </a:r>
            <a:r>
              <a:rPr b="0" spc="-42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50" dirty="0">
                <a:solidFill>
                  <a:srgbClr val="00F2FE"/>
                </a:solidFill>
                <a:latin typeface="Verdana"/>
                <a:cs typeface="Verdana"/>
              </a:rPr>
              <a:t>/ </a:t>
            </a:r>
            <a:r>
              <a:rPr b="0" spc="45" dirty="0">
                <a:solidFill>
                  <a:srgbClr val="00F2FE"/>
                </a:solidFill>
                <a:latin typeface="Verdana"/>
                <a:cs typeface="Verdana"/>
              </a:rPr>
              <a:t>Concepts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31387" y="565467"/>
            <a:ext cx="1576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b="1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2645" y="3358185"/>
            <a:ext cx="8615507" cy="2153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5" dirty="0">
                <a:solidFill>
                  <a:srgbClr val="9CA3AF"/>
                </a:solidFill>
                <a:latin typeface="Verdana"/>
                <a:cs typeface="Verdana"/>
              </a:rPr>
              <a:t>Definition:</a:t>
            </a:r>
            <a:r>
              <a:rPr sz="14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9CA3AF"/>
                </a:solidFill>
                <a:latin typeface="Verdana"/>
                <a:cs typeface="Verdana"/>
              </a:rPr>
              <a:t>Data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about</a:t>
            </a:r>
            <a:r>
              <a:rPr sz="14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data</a:t>
            </a:r>
            <a:r>
              <a:rPr sz="14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hidden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inside</a:t>
            </a:r>
            <a:r>
              <a:rPr sz="14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9CA3AF"/>
                </a:solidFill>
                <a:latin typeface="Verdana"/>
                <a:cs typeface="Verdana"/>
              </a:rPr>
              <a:t>digital</a:t>
            </a:r>
            <a:r>
              <a:rPr sz="14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files.</a:t>
            </a:r>
            <a:endParaRPr sz="1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Envelope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9CA3AF"/>
                </a:solidFill>
                <a:latin typeface="Verdana"/>
                <a:cs typeface="Verdana"/>
              </a:rPr>
              <a:t>Analogy: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CA3AF"/>
                </a:solidFill>
                <a:latin typeface="Verdana"/>
                <a:cs typeface="Verdana"/>
              </a:rPr>
              <a:t>Message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9CA3AF"/>
                </a:solidFill>
                <a:latin typeface="Verdana"/>
                <a:cs typeface="Verdana"/>
              </a:rPr>
              <a:t>is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9CA3AF"/>
                </a:solidFill>
                <a:latin typeface="Verdana"/>
                <a:cs typeface="Verdana"/>
              </a:rPr>
              <a:t>private,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envelope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CA3AF"/>
                </a:solidFill>
                <a:latin typeface="Verdana"/>
                <a:cs typeface="Verdana"/>
              </a:rPr>
              <a:t>exposes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9CA3AF"/>
                </a:solidFill>
                <a:latin typeface="Verdana"/>
                <a:cs typeface="Verdana"/>
              </a:rPr>
              <a:t>sender,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9CA3AF"/>
                </a:solidFill>
                <a:latin typeface="Verdana"/>
                <a:cs typeface="Verdana"/>
              </a:rPr>
              <a:t>date,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tracking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details.</a:t>
            </a:r>
            <a:endParaRPr sz="1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65" dirty="0">
                <a:solidFill>
                  <a:srgbClr val="00F2FE"/>
                </a:solidFill>
                <a:latin typeface="Verdana"/>
                <a:cs typeface="Verdana"/>
              </a:rPr>
              <a:t>EXIF</a:t>
            </a:r>
            <a:r>
              <a:rPr sz="1400" b="1" spc="-28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9CA3AF"/>
                </a:solidFill>
                <a:latin typeface="Verdana"/>
                <a:cs typeface="Verdana"/>
              </a:rPr>
              <a:t>Data: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9CA3AF"/>
                </a:solidFill>
                <a:latin typeface="Verdana"/>
                <a:cs typeface="Verdana"/>
              </a:rPr>
              <a:t>Image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9CA3AF"/>
                </a:solidFill>
                <a:latin typeface="Verdana"/>
                <a:cs typeface="Verdana"/>
              </a:rPr>
              <a:t>files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9CA3AF"/>
                </a:solidFill>
                <a:latin typeface="Verdana"/>
                <a:cs typeface="Verdana"/>
              </a:rPr>
              <a:t>contain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b="1" spc="-70" dirty="0">
                <a:solidFill>
                  <a:srgbClr val="00F2FE"/>
                </a:solidFill>
                <a:latin typeface="Verdana"/>
                <a:cs typeface="Verdana"/>
              </a:rPr>
              <a:t>GPS</a:t>
            </a:r>
            <a:r>
              <a:rPr sz="1400" b="1" spc="-27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9CA3AF"/>
                </a:solidFill>
                <a:latin typeface="Verdana"/>
                <a:cs typeface="Verdana"/>
              </a:rPr>
              <a:t>logs,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9CA3AF"/>
                </a:solidFill>
                <a:latin typeface="Verdana"/>
                <a:cs typeface="Verdana"/>
              </a:rPr>
              <a:t>timestamps,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CA3AF"/>
                </a:solidFill>
                <a:latin typeface="Verdana"/>
                <a:cs typeface="Verdana"/>
              </a:rPr>
              <a:t>device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9CA3AF"/>
                </a:solidFill>
                <a:latin typeface="Verdana"/>
                <a:cs typeface="Verdana"/>
              </a:rPr>
              <a:t>camera</a:t>
            </a:r>
            <a:r>
              <a:rPr sz="14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models.</a:t>
            </a:r>
            <a:endParaRPr sz="1400" dirty="0">
              <a:latin typeface="Verdana"/>
              <a:cs typeface="Verdana"/>
            </a:endParaRPr>
          </a:p>
          <a:p>
            <a:pPr marL="12700" marR="5080">
              <a:lnSpc>
                <a:spcPts val="3610"/>
              </a:lnSpc>
              <a:spcBef>
                <a:spcPts val="260"/>
              </a:spcBef>
            </a:pPr>
            <a:r>
              <a:rPr sz="1400" spc="-25" dirty="0">
                <a:solidFill>
                  <a:srgbClr val="9CA3AF"/>
                </a:solidFill>
                <a:latin typeface="Verdana"/>
                <a:cs typeface="Verdana"/>
              </a:rPr>
              <a:t>Document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9CA3AF"/>
                </a:solidFill>
                <a:latin typeface="Verdana"/>
                <a:cs typeface="Verdana"/>
              </a:rPr>
              <a:t>Files: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9CA3AF"/>
                </a:solidFill>
                <a:latin typeface="Verdana"/>
                <a:cs typeface="Verdana"/>
              </a:rPr>
              <a:t>Elements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store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9CA3AF"/>
                </a:solidFill>
                <a:latin typeface="Verdana"/>
                <a:cs typeface="Verdana"/>
              </a:rPr>
              <a:t>author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9CA3AF"/>
                </a:solidFill>
                <a:latin typeface="Verdana"/>
                <a:cs typeface="Verdana"/>
              </a:rPr>
              <a:t>names,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software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9CA3AF"/>
                </a:solidFill>
                <a:latin typeface="Verdana"/>
                <a:cs typeface="Verdana"/>
              </a:rPr>
              <a:t>revisions,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9CA3AF"/>
                </a:solidFill>
                <a:latin typeface="Verdana"/>
                <a:cs typeface="Verdana"/>
              </a:rPr>
              <a:t>internal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CA3AF"/>
                </a:solidFill>
                <a:latin typeface="Verdana"/>
                <a:cs typeface="Verdana"/>
              </a:rPr>
              <a:t>edit</a:t>
            </a:r>
            <a:r>
              <a:rPr sz="14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histories.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Accessibility: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9CA3AF"/>
                </a:solidFill>
                <a:latin typeface="Verdana"/>
                <a:cs typeface="Verdana"/>
              </a:rPr>
              <a:t>is</a:t>
            </a:r>
            <a:r>
              <a:rPr sz="14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CA3AF"/>
                </a:solidFill>
                <a:latin typeface="Verdana"/>
                <a:cs typeface="Verdana"/>
              </a:rPr>
              <a:t>completely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9CA3AF"/>
                </a:solidFill>
                <a:latin typeface="Verdana"/>
                <a:cs typeface="Verdana"/>
              </a:rPr>
              <a:t>invisible</a:t>
            </a:r>
            <a:r>
              <a:rPr sz="1400" spc="-204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9CA3AF"/>
                </a:solidFill>
                <a:latin typeface="Verdana"/>
                <a:cs typeface="Verdana"/>
              </a:rPr>
              <a:t>to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9CA3AF"/>
                </a:solidFill>
                <a:latin typeface="Verdana"/>
                <a:cs typeface="Verdana"/>
              </a:rPr>
              <a:t>casual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9CA3AF"/>
                </a:solidFill>
                <a:latin typeface="Verdana"/>
                <a:cs typeface="Verdana"/>
              </a:rPr>
              <a:t>viewers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but</a:t>
            </a:r>
            <a:r>
              <a:rPr sz="14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9CA3AF"/>
                </a:solidFill>
                <a:latin typeface="Verdana"/>
                <a:cs typeface="Verdana"/>
              </a:rPr>
              <a:t>easily</a:t>
            </a:r>
            <a:r>
              <a:rPr sz="14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9CA3AF"/>
                </a:solidFill>
                <a:latin typeface="Verdana"/>
                <a:cs typeface="Verdana"/>
              </a:rPr>
              <a:t>extracted</a:t>
            </a:r>
            <a:r>
              <a:rPr sz="14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9CA3AF"/>
                </a:solidFill>
                <a:latin typeface="Verdana"/>
                <a:cs typeface="Verdana"/>
              </a:rPr>
              <a:t>by</a:t>
            </a:r>
            <a:r>
              <a:rPr sz="14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9CA3AF"/>
                </a:solidFill>
                <a:latin typeface="Verdana"/>
                <a:cs typeface="Verdana"/>
              </a:rPr>
              <a:t>attackers.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15650" y="6507208"/>
            <a:ext cx="678180" cy="137160"/>
          </a:xfrm>
          <a:custGeom>
            <a:avLst/>
            <a:gdLst/>
            <a:ahLst/>
            <a:cxnLst/>
            <a:rect l="l" t="t" r="r" b="b"/>
            <a:pathLst>
              <a:path w="678179" h="137159">
                <a:moveTo>
                  <a:pt x="678027" y="137160"/>
                </a:moveTo>
                <a:lnTo>
                  <a:pt x="0" y="137160"/>
                </a:lnTo>
                <a:lnTo>
                  <a:pt x="0" y="0"/>
                </a:lnTo>
                <a:lnTo>
                  <a:pt x="678027" y="0"/>
                </a:lnTo>
                <a:lnTo>
                  <a:pt x="678027" y="137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902950" y="6483958"/>
            <a:ext cx="703580" cy="169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Slide</a:t>
            </a:r>
            <a:r>
              <a:rPr sz="900" spc="-14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9CA3AF"/>
                </a:solidFill>
                <a:latin typeface="Verdana"/>
                <a:cs typeface="Verdana"/>
              </a:rPr>
              <a:t>02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9CA3AF"/>
                </a:solidFill>
                <a:latin typeface="Verdana"/>
                <a:cs typeface="Verdana"/>
              </a:rPr>
              <a:t>/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pc="-235" dirty="0"/>
              <a:t>Introduction</a:t>
            </a:r>
            <a:r>
              <a:rPr spc="-595" dirty="0"/>
              <a:t> </a:t>
            </a:r>
            <a:r>
              <a:rPr spc="-114" dirty="0"/>
              <a:t>to</a:t>
            </a:r>
            <a:r>
              <a:rPr spc="-585" dirty="0"/>
              <a:t> </a:t>
            </a:r>
            <a:r>
              <a:rPr spc="-265" dirty="0"/>
              <a:t>MAT2</a:t>
            </a:r>
            <a:r>
              <a:rPr spc="-575" dirty="0"/>
              <a:t> </a:t>
            </a:r>
            <a:r>
              <a:rPr b="0" spc="65" dirty="0">
                <a:solidFill>
                  <a:srgbClr val="00F2FE"/>
                </a:solidFill>
                <a:latin typeface="Verdana"/>
                <a:cs typeface="Verdana"/>
              </a:rPr>
              <a:t>02</a:t>
            </a:r>
            <a:r>
              <a:rPr b="0" spc="-42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50" dirty="0">
                <a:solidFill>
                  <a:srgbClr val="00F2FE"/>
                </a:solidFill>
                <a:latin typeface="Verdana"/>
                <a:cs typeface="Verdana"/>
              </a:rPr>
              <a:t>/ </a:t>
            </a:r>
            <a:r>
              <a:rPr b="0" spc="-10" dirty="0">
                <a:solidFill>
                  <a:srgbClr val="00F2FE"/>
                </a:solidFill>
                <a:latin typeface="Verdana"/>
                <a:cs typeface="Verdana"/>
              </a:rPr>
              <a:t>Toolsets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31387" y="565467"/>
            <a:ext cx="1576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b="1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174" y="3324373"/>
            <a:ext cx="7256780" cy="158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35" dirty="0">
                <a:solidFill>
                  <a:srgbClr val="00F2FE"/>
                </a:solidFill>
                <a:latin typeface="Verdana"/>
                <a:cs typeface="Verdana"/>
              </a:rPr>
              <a:t>MAT2</a:t>
            </a:r>
            <a:r>
              <a:rPr sz="1200" b="1" spc="-27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refers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directly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to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Anonymisation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Toolkit.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Free,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open-source,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Python-based,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community-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audited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privacy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cleaning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software.</a:t>
            </a:r>
            <a:endParaRPr sz="1200">
              <a:latin typeface="Verdana"/>
              <a:cs typeface="Verdana"/>
            </a:endParaRPr>
          </a:p>
          <a:p>
            <a:pPr marL="12700" marR="5080">
              <a:lnSpc>
                <a:spcPts val="3610"/>
              </a:lnSpc>
              <a:spcBef>
                <a:spcPts val="270"/>
              </a:spcBef>
            </a:pP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Core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Principle: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Removes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hidden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layers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while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leaving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visible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content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completely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untouched. </a:t>
            </a:r>
            <a:r>
              <a:rPr sz="1200" spc="-75" dirty="0">
                <a:solidFill>
                  <a:srgbClr val="9CA3AF"/>
                </a:solidFill>
                <a:latin typeface="Verdana"/>
                <a:cs typeface="Verdana"/>
              </a:rPr>
              <a:t>Targets: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Securely</a:t>
            </a:r>
            <a:r>
              <a:rPr sz="12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flushes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spc="-70" dirty="0">
                <a:solidFill>
                  <a:srgbClr val="00F2FE"/>
                </a:solidFill>
                <a:latin typeface="Verdana"/>
                <a:cs typeface="Verdana"/>
              </a:rPr>
              <a:t>GPS</a:t>
            </a:r>
            <a:r>
              <a:rPr sz="1200" b="1" spc="-254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records,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device</a:t>
            </a:r>
            <a:r>
              <a:rPr sz="12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profiles,</a:t>
            </a:r>
            <a:r>
              <a:rPr sz="12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author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signatures,</a:t>
            </a:r>
            <a:r>
              <a:rPr sz="12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embedded</a:t>
            </a:r>
            <a:r>
              <a:rPr sz="12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thumbnails.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15650" y="6507208"/>
            <a:ext cx="679450" cy="137160"/>
          </a:xfrm>
          <a:custGeom>
            <a:avLst/>
            <a:gdLst/>
            <a:ahLst/>
            <a:cxnLst/>
            <a:rect l="l" t="t" r="r" b="b"/>
            <a:pathLst>
              <a:path w="679450" h="137159">
                <a:moveTo>
                  <a:pt x="679056" y="137160"/>
                </a:moveTo>
                <a:lnTo>
                  <a:pt x="0" y="137160"/>
                </a:lnTo>
                <a:lnTo>
                  <a:pt x="0" y="0"/>
                </a:lnTo>
                <a:lnTo>
                  <a:pt x="679056" y="0"/>
                </a:lnTo>
                <a:lnTo>
                  <a:pt x="679056" y="137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902950" y="6483958"/>
            <a:ext cx="704850" cy="169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Slide</a:t>
            </a:r>
            <a:r>
              <a:rPr sz="900" spc="-14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9CA3AF"/>
                </a:solidFill>
                <a:latin typeface="Verdana"/>
                <a:cs typeface="Verdana"/>
              </a:rPr>
              <a:t>03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9CA3AF"/>
                </a:solidFill>
                <a:latin typeface="Verdana"/>
                <a:cs typeface="Verdana"/>
              </a:rPr>
              <a:t>/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850" y="285813"/>
            <a:ext cx="4584700" cy="8064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pc="-229" dirty="0"/>
              <a:t>How</a:t>
            </a:r>
            <a:r>
              <a:rPr spc="-600" dirty="0"/>
              <a:t> </a:t>
            </a:r>
            <a:r>
              <a:rPr spc="-265" dirty="0"/>
              <a:t>MAT2</a:t>
            </a:r>
            <a:r>
              <a:rPr spc="-600" dirty="0"/>
              <a:t> </a:t>
            </a:r>
            <a:r>
              <a:rPr spc="-254" dirty="0"/>
              <a:t>Works</a:t>
            </a:r>
            <a:r>
              <a:rPr spc="-605" dirty="0"/>
              <a:t> </a:t>
            </a:r>
            <a:r>
              <a:rPr b="0" spc="80" dirty="0">
                <a:solidFill>
                  <a:srgbClr val="00F2FE"/>
                </a:solidFill>
                <a:latin typeface="Verdana"/>
                <a:cs typeface="Verdana"/>
              </a:rPr>
              <a:t>03</a:t>
            </a:r>
            <a:r>
              <a:rPr b="0" spc="-45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75" dirty="0">
                <a:solidFill>
                  <a:srgbClr val="00F2FE"/>
                </a:solidFill>
                <a:latin typeface="Verdana"/>
                <a:cs typeface="Verdana"/>
              </a:rPr>
              <a:t>/</a:t>
            </a:r>
            <a:r>
              <a:rPr b="0" spc="-45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65" dirty="0">
                <a:solidFill>
                  <a:srgbClr val="00F2FE"/>
                </a:solidFill>
                <a:latin typeface="Verdana"/>
                <a:cs typeface="Verdana"/>
              </a:rPr>
              <a:t>System </a:t>
            </a:r>
            <a:r>
              <a:rPr b="0" spc="-10" dirty="0">
                <a:solidFill>
                  <a:srgbClr val="00F2FE"/>
                </a:solidFill>
                <a:latin typeface="Verdana"/>
                <a:cs typeface="Verdana"/>
              </a:rPr>
              <a:t>Architecture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893425" y="6483958"/>
            <a:ext cx="707390" cy="169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Slide</a:t>
            </a:r>
            <a:r>
              <a:rPr sz="900" spc="-13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9CA3AF"/>
                </a:solidFill>
                <a:latin typeface="Verdana"/>
                <a:cs typeface="Verdana"/>
              </a:rPr>
              <a:t>04</a:t>
            </a:r>
            <a:r>
              <a:rPr sz="900" spc="-13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9CA3AF"/>
                </a:solidFill>
                <a:latin typeface="Verdana"/>
                <a:cs typeface="Verdana"/>
              </a:rPr>
              <a:t>/</a:t>
            </a:r>
            <a:r>
              <a:rPr sz="900" spc="-13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1387" y="565467"/>
            <a:ext cx="1576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b="1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302" y="1953640"/>
            <a:ext cx="445134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050" b="1" spc="-95" dirty="0">
                <a:solidFill>
                  <a:srgbClr val="F9FAFB"/>
                </a:solidFill>
                <a:latin typeface="Verdana"/>
                <a:cs typeface="Verdana"/>
              </a:rPr>
              <a:t>Mount </a:t>
            </a:r>
            <a:r>
              <a:rPr sz="1050" b="1" spc="-100" dirty="0">
                <a:solidFill>
                  <a:srgbClr val="F9FAFB"/>
                </a:solidFill>
                <a:latin typeface="Verdana"/>
                <a:cs typeface="Verdana"/>
              </a:rPr>
              <a:t>Binary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9846" y="1973580"/>
            <a:ext cx="973455" cy="1600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5"/>
              </a:lnSpc>
            </a:pPr>
            <a:r>
              <a:rPr sz="1050" b="1" spc="-80" dirty="0">
                <a:solidFill>
                  <a:srgbClr val="F9FAFB"/>
                </a:solidFill>
                <a:latin typeface="Verdana"/>
                <a:cs typeface="Verdana"/>
              </a:rPr>
              <a:t>Extract</a:t>
            </a:r>
            <a:r>
              <a:rPr sz="1050" b="1" spc="-185" dirty="0">
                <a:solidFill>
                  <a:srgbClr val="F9FAFB"/>
                </a:solidFill>
                <a:latin typeface="Verdana"/>
                <a:cs typeface="Verdana"/>
              </a:rPr>
              <a:t> </a:t>
            </a:r>
            <a:r>
              <a:rPr sz="1050" b="1" spc="-90" dirty="0">
                <a:solidFill>
                  <a:srgbClr val="F9FAFB"/>
                </a:solidFill>
                <a:latin typeface="Verdana"/>
                <a:cs typeface="Verdana"/>
              </a:rPr>
              <a:t>Stream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3114" y="1953640"/>
            <a:ext cx="83121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050" b="1" spc="-70" dirty="0">
                <a:solidFill>
                  <a:srgbClr val="F9FAFB"/>
                </a:solidFill>
                <a:latin typeface="Verdana"/>
                <a:cs typeface="Verdana"/>
              </a:rPr>
              <a:t>Reconstruct </a:t>
            </a:r>
            <a:r>
              <a:rPr sz="1050" b="1" spc="-10" dirty="0">
                <a:solidFill>
                  <a:srgbClr val="F9FAFB"/>
                </a:solidFill>
                <a:latin typeface="Verdana"/>
                <a:cs typeface="Verdana"/>
              </a:rPr>
              <a:t>Wrapper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1034" y="1953640"/>
            <a:ext cx="600075" cy="34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9FAFB"/>
                </a:solidFill>
                <a:latin typeface="Verdana"/>
                <a:cs typeface="Verdana"/>
              </a:rPr>
              <a:t>Output</a:t>
            </a: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050" b="1" spc="-55" dirty="0">
                <a:solidFill>
                  <a:srgbClr val="F9FAFB"/>
                </a:solidFill>
                <a:latin typeface="Verdana"/>
                <a:cs typeface="Verdana"/>
              </a:rPr>
              <a:t>.cleaned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5175" y="2609998"/>
            <a:ext cx="731012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solidFill>
                  <a:srgbClr val="00F2FE"/>
                </a:solidFill>
                <a:latin typeface="Verdana"/>
                <a:cs typeface="Verdana"/>
              </a:rPr>
              <a:t>Mount:</a:t>
            </a:r>
            <a:r>
              <a:rPr sz="1200" b="1" spc="-26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Loads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original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source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target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securely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directly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into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temporary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volatile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system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memory.</a:t>
            </a:r>
            <a:endParaRPr sz="1200">
              <a:latin typeface="Verdana"/>
              <a:cs typeface="Verdana"/>
            </a:endParaRPr>
          </a:p>
          <a:p>
            <a:pPr marL="12700" marR="732790">
              <a:lnSpc>
                <a:spcPct val="250800"/>
              </a:lnSpc>
            </a:pPr>
            <a:r>
              <a:rPr sz="1200" b="1" spc="-85" dirty="0">
                <a:solidFill>
                  <a:srgbClr val="00F2FE"/>
                </a:solidFill>
                <a:latin typeface="Verdana"/>
                <a:cs typeface="Verdana"/>
              </a:rPr>
              <a:t>Extract:</a:t>
            </a:r>
            <a:r>
              <a:rPr sz="1200" b="1" spc="-27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Discards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dirty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legacy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container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pulls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only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purified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9CA3AF"/>
                </a:solidFill>
                <a:latin typeface="Verdana"/>
                <a:cs typeface="Verdana"/>
              </a:rPr>
              <a:t>raw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content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streams. </a:t>
            </a:r>
            <a:r>
              <a:rPr sz="1200" b="1" spc="-85" dirty="0">
                <a:solidFill>
                  <a:srgbClr val="00F2FE"/>
                </a:solidFill>
                <a:latin typeface="Verdana"/>
                <a:cs typeface="Verdana"/>
              </a:rPr>
              <a:t>Reconstruct:</a:t>
            </a:r>
            <a:r>
              <a:rPr sz="1200" b="1" spc="-28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Writes</a:t>
            </a:r>
            <a:r>
              <a:rPr sz="12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9CA3AF"/>
                </a:solidFill>
                <a:latin typeface="Verdana"/>
                <a:cs typeface="Verdana"/>
              </a:rPr>
              <a:t>an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entirely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9CA3AF"/>
                </a:solidFill>
                <a:latin typeface="Verdana"/>
                <a:cs typeface="Verdana"/>
              </a:rPr>
              <a:t>new,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structurally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sterile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file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wrapper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around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clean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stream. </a:t>
            </a:r>
            <a:r>
              <a:rPr sz="1200" b="1" spc="-75" dirty="0">
                <a:solidFill>
                  <a:srgbClr val="00F2FE"/>
                </a:solidFill>
                <a:latin typeface="Verdana"/>
                <a:cs typeface="Verdana"/>
              </a:rPr>
              <a:t>Output:</a:t>
            </a:r>
            <a:r>
              <a:rPr sz="1200" b="1" spc="-254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Saves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safe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sanitized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copy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appending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secure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spc="-70" dirty="0">
                <a:solidFill>
                  <a:srgbClr val="00F2FE"/>
                </a:solidFill>
                <a:latin typeface="Verdana"/>
                <a:cs typeface="Verdana"/>
              </a:rPr>
              <a:t>.cleaned</a:t>
            </a:r>
            <a:r>
              <a:rPr sz="1200" b="1" spc="-26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extension.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b="1" spc="-110" dirty="0">
                <a:solidFill>
                  <a:srgbClr val="00F2FE"/>
                </a:solidFill>
                <a:latin typeface="Verdana"/>
                <a:cs typeface="Verdana"/>
              </a:rPr>
              <a:t>Limitations:</a:t>
            </a:r>
            <a:r>
              <a:rPr sz="1200" b="1" spc="-26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Cannot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process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cryptographic</a:t>
            </a:r>
            <a:r>
              <a:rPr sz="12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spc="-120" dirty="0">
                <a:solidFill>
                  <a:srgbClr val="00F2FE"/>
                </a:solidFill>
                <a:latin typeface="Verdana"/>
                <a:cs typeface="Verdana"/>
              </a:rPr>
              <a:t>DRM</a:t>
            </a:r>
            <a:r>
              <a:rPr sz="1200" b="1" spc="-27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protections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or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complex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interleaved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video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structures.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850" y="285813"/>
            <a:ext cx="4627880" cy="8064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pc="-235" dirty="0"/>
              <a:t>Using</a:t>
            </a:r>
            <a:r>
              <a:rPr spc="-600" dirty="0"/>
              <a:t> </a:t>
            </a:r>
            <a:r>
              <a:rPr spc="-265" dirty="0"/>
              <a:t>MAT2</a:t>
            </a:r>
            <a:r>
              <a:rPr spc="-590" dirty="0"/>
              <a:t> </a:t>
            </a:r>
            <a:r>
              <a:rPr spc="-145" dirty="0"/>
              <a:t>–</a:t>
            </a:r>
            <a:r>
              <a:rPr spc="-580" dirty="0"/>
              <a:t> </a:t>
            </a:r>
            <a:r>
              <a:rPr spc="-315" dirty="0"/>
              <a:t>GUI</a:t>
            </a:r>
            <a:r>
              <a:rPr spc="-595" dirty="0"/>
              <a:t> </a:t>
            </a:r>
            <a:r>
              <a:rPr spc="-150" dirty="0"/>
              <a:t>Method</a:t>
            </a:r>
            <a:r>
              <a:rPr spc="-600" dirty="0"/>
              <a:t> </a:t>
            </a:r>
            <a:r>
              <a:rPr b="0" spc="95" dirty="0">
                <a:solidFill>
                  <a:srgbClr val="00F2FE"/>
                </a:solidFill>
                <a:latin typeface="Verdana"/>
                <a:cs typeface="Verdana"/>
              </a:rPr>
              <a:t>04</a:t>
            </a:r>
            <a:r>
              <a:rPr b="0" spc="-434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50" dirty="0">
                <a:solidFill>
                  <a:srgbClr val="00F2FE"/>
                </a:solidFill>
                <a:latin typeface="Verdana"/>
                <a:cs typeface="Verdana"/>
              </a:rPr>
              <a:t>/ </a:t>
            </a:r>
            <a:r>
              <a:rPr b="0" spc="-10" dirty="0">
                <a:solidFill>
                  <a:srgbClr val="00F2FE"/>
                </a:solidFill>
                <a:latin typeface="Verdana"/>
                <a:cs typeface="Verdana"/>
              </a:rPr>
              <a:t>Workflows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31387" y="565467"/>
            <a:ext cx="1576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b="1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5175" y="2895748"/>
            <a:ext cx="6938645" cy="158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Simple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interface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specifically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optimized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for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non-technical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users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general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oﬃce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staff.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Drag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drop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documents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directly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into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2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spc="-140" dirty="0">
                <a:solidFill>
                  <a:srgbClr val="00F2FE"/>
                </a:solidFill>
                <a:latin typeface="Verdana"/>
                <a:cs typeface="Verdana"/>
              </a:rPr>
              <a:t>mut2−gui</a:t>
            </a:r>
            <a:r>
              <a:rPr sz="1200" b="1" spc="-254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active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scanning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grid.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Process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multiple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batch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files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simultaneously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with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single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click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of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Clean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button.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Original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source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files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9CA3AF"/>
                </a:solidFill>
                <a:latin typeface="Verdana"/>
                <a:cs typeface="Verdana"/>
              </a:rPr>
              <a:t>remain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completely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untouched,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providing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secure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non-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destructive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workflows.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15650" y="6507208"/>
            <a:ext cx="680085" cy="137160"/>
          </a:xfrm>
          <a:custGeom>
            <a:avLst/>
            <a:gdLst/>
            <a:ahLst/>
            <a:cxnLst/>
            <a:rect l="l" t="t" r="r" b="b"/>
            <a:pathLst>
              <a:path w="680084" h="137159">
                <a:moveTo>
                  <a:pt x="679856" y="137160"/>
                </a:moveTo>
                <a:lnTo>
                  <a:pt x="0" y="137160"/>
                </a:lnTo>
                <a:lnTo>
                  <a:pt x="0" y="0"/>
                </a:lnTo>
                <a:lnTo>
                  <a:pt x="679856" y="0"/>
                </a:lnTo>
                <a:lnTo>
                  <a:pt x="679856" y="137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902950" y="6483958"/>
            <a:ext cx="705485" cy="169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Slide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9CA3AF"/>
                </a:solidFill>
                <a:latin typeface="Verdana"/>
                <a:cs typeface="Verdana"/>
              </a:rPr>
              <a:t>05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9CA3AF"/>
                </a:solidFill>
                <a:latin typeface="Verdana"/>
                <a:cs typeface="Verdana"/>
              </a:rPr>
              <a:t>/</a:t>
            </a:r>
            <a:r>
              <a:rPr sz="900" spc="-13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850" y="285813"/>
            <a:ext cx="6047105" cy="8064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pc="-235" dirty="0"/>
              <a:t>Using</a:t>
            </a:r>
            <a:r>
              <a:rPr spc="-605" dirty="0"/>
              <a:t> </a:t>
            </a:r>
            <a:r>
              <a:rPr spc="-265" dirty="0"/>
              <a:t>MAT2</a:t>
            </a:r>
            <a:r>
              <a:rPr spc="-590" dirty="0"/>
              <a:t> </a:t>
            </a:r>
            <a:r>
              <a:rPr spc="-145" dirty="0"/>
              <a:t>–</a:t>
            </a:r>
            <a:r>
              <a:rPr spc="-585" dirty="0"/>
              <a:t> </a:t>
            </a:r>
            <a:r>
              <a:rPr spc="-280" dirty="0"/>
              <a:t>CLI</a:t>
            </a:r>
            <a:r>
              <a:rPr spc="-585" dirty="0"/>
              <a:t> </a:t>
            </a:r>
            <a:r>
              <a:rPr spc="-150" dirty="0"/>
              <a:t>Method</a:t>
            </a:r>
            <a:r>
              <a:rPr spc="-600" dirty="0"/>
              <a:t> </a:t>
            </a:r>
            <a:r>
              <a:rPr b="0" spc="80" dirty="0">
                <a:solidFill>
                  <a:srgbClr val="00F2FE"/>
                </a:solidFill>
                <a:latin typeface="Verdana"/>
                <a:cs typeface="Verdana"/>
              </a:rPr>
              <a:t>05</a:t>
            </a:r>
            <a:r>
              <a:rPr b="0" spc="-44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75" dirty="0">
                <a:solidFill>
                  <a:srgbClr val="00F2FE"/>
                </a:solidFill>
                <a:latin typeface="Verdana"/>
                <a:cs typeface="Verdana"/>
              </a:rPr>
              <a:t>/</a:t>
            </a:r>
            <a:r>
              <a:rPr b="0" spc="-42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70" dirty="0">
                <a:solidFill>
                  <a:srgbClr val="00F2FE"/>
                </a:solidFill>
                <a:latin typeface="Verdana"/>
                <a:cs typeface="Verdana"/>
              </a:rPr>
              <a:t>Technical </a:t>
            </a:r>
            <a:r>
              <a:rPr b="0" spc="-10" dirty="0">
                <a:solidFill>
                  <a:srgbClr val="00F2FE"/>
                </a:solidFill>
                <a:latin typeface="Verdana"/>
                <a:cs typeface="Verdana"/>
              </a:rPr>
              <a:t>Workflows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31387" y="565467"/>
            <a:ext cx="1576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b="1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9175" y="1497154"/>
            <a:ext cx="1580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3AF"/>
                </a:solidFill>
                <a:latin typeface="Arial MT"/>
                <a:cs typeface="Arial MT"/>
              </a:rPr>
              <a:t>sec-</a:t>
            </a:r>
            <a:r>
              <a:rPr sz="900" spc="-10" dirty="0">
                <a:solidFill>
                  <a:srgbClr val="9CA3AF"/>
                </a:solidFill>
                <a:latin typeface="Arial MT"/>
                <a:cs typeface="Arial MT"/>
              </a:rPr>
              <a:t>analyst@kali:~/documents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7200" y="2020310"/>
            <a:ext cx="42119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15"/>
              </a:lnSpc>
              <a:spcBef>
                <a:spcPts val="100"/>
              </a:spcBef>
            </a:pPr>
            <a:r>
              <a:rPr sz="1050" dirty="0">
                <a:solidFill>
                  <a:srgbClr val="10B981"/>
                </a:solidFill>
                <a:latin typeface="Arial MT"/>
                <a:cs typeface="Arial MT"/>
              </a:rPr>
              <a:t>$</a:t>
            </a:r>
            <a:r>
              <a:rPr sz="1050" spc="-30" dirty="0">
                <a:solidFill>
                  <a:srgbClr val="10B98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0B981"/>
                </a:solidFill>
                <a:latin typeface="Arial MT"/>
                <a:cs typeface="Arial MT"/>
              </a:rPr>
              <a:t>mat2</a:t>
            </a:r>
            <a:r>
              <a:rPr sz="1050" spc="-25" dirty="0">
                <a:solidFill>
                  <a:srgbClr val="10B98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0B981"/>
                </a:solidFill>
                <a:latin typeface="Arial MT"/>
                <a:cs typeface="Arial MT"/>
              </a:rPr>
              <a:t>--</a:t>
            </a:r>
            <a:r>
              <a:rPr sz="1050" dirty="0">
                <a:solidFill>
                  <a:srgbClr val="10B981"/>
                </a:solidFill>
                <a:latin typeface="Arial MT"/>
                <a:cs typeface="Arial MT"/>
              </a:rPr>
              <a:t>show</a:t>
            </a:r>
            <a:r>
              <a:rPr sz="1050" spc="-30" dirty="0">
                <a:solidFill>
                  <a:srgbClr val="10B98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0B981"/>
                </a:solidFill>
                <a:latin typeface="Arial MT"/>
                <a:cs typeface="Arial MT"/>
              </a:rPr>
              <a:t>document.pdf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ts val="1215"/>
              </a:lnSpc>
            </a:pPr>
            <a:r>
              <a:rPr sz="1050" dirty="0">
                <a:solidFill>
                  <a:srgbClr val="9CA3AF"/>
                </a:solidFill>
                <a:latin typeface="Arial MT"/>
                <a:cs typeface="Arial MT"/>
              </a:rPr>
              <a:t>[+]</a:t>
            </a:r>
            <a:r>
              <a:rPr sz="1050" spc="-35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9CA3AF"/>
                </a:solidFill>
                <a:latin typeface="Arial MT"/>
                <a:cs typeface="Arial MT"/>
              </a:rPr>
              <a:t>File:</a:t>
            </a:r>
            <a:r>
              <a:rPr sz="1050" spc="-10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9CA3AF"/>
                </a:solidFill>
                <a:latin typeface="Arial MT"/>
                <a:cs typeface="Arial MT"/>
              </a:rPr>
              <a:t>document.pdf</a:t>
            </a:r>
            <a:r>
              <a:rPr sz="1050" spc="-10" dirty="0">
                <a:solidFill>
                  <a:srgbClr val="9CA3AF"/>
                </a:solidFill>
                <a:latin typeface="Arial MT"/>
                <a:cs typeface="Arial MT"/>
              </a:rPr>
              <a:t> |</a:t>
            </a:r>
            <a:r>
              <a:rPr sz="1050" spc="-70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9CA3AF"/>
                </a:solidFill>
                <a:latin typeface="Arial MT"/>
                <a:cs typeface="Arial MT"/>
              </a:rPr>
              <a:t>Author:</a:t>
            </a:r>
            <a:r>
              <a:rPr sz="1050" spc="-65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9CA3AF"/>
                </a:solidFill>
                <a:latin typeface="Arial MT"/>
                <a:cs typeface="Arial MT"/>
              </a:rPr>
              <a:t>Administrator</a:t>
            </a:r>
            <a:r>
              <a:rPr sz="1050" spc="-15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9CA3AF"/>
                </a:solidFill>
                <a:latin typeface="Arial MT"/>
                <a:cs typeface="Arial MT"/>
              </a:rPr>
              <a:t>|</a:t>
            </a:r>
            <a:r>
              <a:rPr sz="1050" spc="-10" dirty="0">
                <a:solidFill>
                  <a:srgbClr val="9CA3AF"/>
                </a:solidFill>
                <a:latin typeface="Arial MT"/>
                <a:cs typeface="Arial MT"/>
              </a:rPr>
              <a:t> Software:</a:t>
            </a:r>
            <a:r>
              <a:rPr sz="1050" spc="-60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9CA3AF"/>
                </a:solidFill>
                <a:latin typeface="Arial MT"/>
                <a:cs typeface="Arial MT"/>
              </a:rPr>
              <a:t>Acrobat</a:t>
            </a:r>
            <a:r>
              <a:rPr sz="1050" spc="-15" dirty="0">
                <a:solidFill>
                  <a:srgbClr val="9CA3AF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9CA3AF"/>
                </a:solidFill>
                <a:latin typeface="Arial MT"/>
                <a:cs typeface="Arial MT"/>
              </a:rPr>
              <a:t>Writer</a:t>
            </a:r>
            <a:endParaRPr sz="1050">
              <a:latin typeface="Arial MT"/>
              <a:cs typeface="Arial MT"/>
            </a:endParaRPr>
          </a:p>
          <a:p>
            <a:pPr marL="49530">
              <a:lnSpc>
                <a:spcPct val="100000"/>
              </a:lnSpc>
              <a:spcBef>
                <a:spcPts val="10"/>
              </a:spcBef>
            </a:pPr>
            <a:r>
              <a:rPr sz="1050" dirty="0">
                <a:solidFill>
                  <a:srgbClr val="10B981"/>
                </a:solidFill>
                <a:latin typeface="Arial MT"/>
                <a:cs typeface="Arial MT"/>
              </a:rPr>
              <a:t>$</a:t>
            </a:r>
            <a:r>
              <a:rPr sz="1050" spc="-25" dirty="0">
                <a:solidFill>
                  <a:srgbClr val="10B98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0B981"/>
                </a:solidFill>
                <a:latin typeface="Arial MT"/>
                <a:cs typeface="Arial MT"/>
              </a:rPr>
              <a:t>mat2</a:t>
            </a:r>
            <a:r>
              <a:rPr sz="1050" spc="-20" dirty="0">
                <a:solidFill>
                  <a:srgbClr val="10B98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0B981"/>
                </a:solidFill>
                <a:latin typeface="Arial MT"/>
                <a:cs typeface="Arial MT"/>
              </a:rPr>
              <a:t>document.pdf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solidFill>
                  <a:srgbClr val="60A5FA"/>
                </a:solidFill>
                <a:latin typeface="Arial MT"/>
                <a:cs typeface="Arial MT"/>
              </a:rPr>
              <a:t>[+]</a:t>
            </a:r>
            <a:r>
              <a:rPr sz="1050" spc="-30" dirty="0">
                <a:solidFill>
                  <a:srgbClr val="60A5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0A5FA"/>
                </a:solidFill>
                <a:latin typeface="Arial MT"/>
                <a:cs typeface="Arial MT"/>
              </a:rPr>
              <a:t>Purging</a:t>
            </a:r>
            <a:r>
              <a:rPr sz="1050" spc="-30" dirty="0">
                <a:solidFill>
                  <a:srgbClr val="60A5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0A5FA"/>
                </a:solidFill>
                <a:latin typeface="Arial MT"/>
                <a:cs typeface="Arial MT"/>
              </a:rPr>
              <a:t>metadata...</a:t>
            </a:r>
            <a:r>
              <a:rPr sz="1050" spc="-30" dirty="0">
                <a:solidFill>
                  <a:srgbClr val="60A5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0A5FA"/>
                </a:solidFill>
                <a:latin typeface="Arial MT"/>
                <a:cs typeface="Arial MT"/>
              </a:rPr>
              <a:t>output</a:t>
            </a:r>
            <a:r>
              <a:rPr sz="1050" spc="-30" dirty="0">
                <a:solidFill>
                  <a:srgbClr val="60A5FA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0A5FA"/>
                </a:solidFill>
                <a:latin typeface="Arial MT"/>
                <a:cs typeface="Arial MT"/>
              </a:rPr>
              <a:t>generated:</a:t>
            </a:r>
            <a:r>
              <a:rPr sz="1050" spc="-30" dirty="0">
                <a:solidFill>
                  <a:srgbClr val="60A5F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60A5FA"/>
                </a:solidFill>
                <a:latin typeface="Arial MT"/>
                <a:cs typeface="Arial MT"/>
              </a:rPr>
              <a:t>document.cleaned.pdf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5175" y="3191023"/>
            <a:ext cx="8299450" cy="1581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High-performance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interface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designed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for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cybersecurity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analysts,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administrators,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automated</a:t>
            </a:r>
            <a:r>
              <a:rPr sz="1200" spc="-15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security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pipelines.</a:t>
            </a:r>
            <a:endParaRPr sz="1200">
              <a:latin typeface="Verdana"/>
              <a:cs typeface="Verdana"/>
            </a:endParaRPr>
          </a:p>
          <a:p>
            <a:pPr marL="12700" marR="1685289">
              <a:lnSpc>
                <a:spcPct val="250000"/>
              </a:lnSpc>
              <a:spcBef>
                <a:spcPts val="10"/>
              </a:spcBef>
            </a:pP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Inspect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hidden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layers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using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command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line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9CA3AF"/>
                </a:solidFill>
                <a:latin typeface="Verdana"/>
                <a:cs typeface="Verdana"/>
              </a:rPr>
              <a:t>query:</a:t>
            </a:r>
            <a:r>
              <a:rPr sz="1200" spc="-24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spc="-130" dirty="0">
                <a:solidFill>
                  <a:srgbClr val="00F2FE"/>
                </a:solidFill>
                <a:latin typeface="Verdana"/>
                <a:cs typeface="Verdana"/>
              </a:rPr>
              <a:t>mat2</a:t>
            </a:r>
            <a:r>
              <a:rPr sz="1200" b="1" spc="-24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b="1" spc="-25" dirty="0">
                <a:solidFill>
                  <a:srgbClr val="00F2FE"/>
                </a:solidFill>
                <a:latin typeface="Verdana"/>
                <a:cs typeface="Verdana"/>
              </a:rPr>
              <a:t>--</a:t>
            </a:r>
            <a:r>
              <a:rPr sz="1200" b="1" spc="-35" dirty="0">
                <a:solidFill>
                  <a:srgbClr val="00F2FE"/>
                </a:solidFill>
                <a:latin typeface="Verdana"/>
                <a:cs typeface="Verdana"/>
              </a:rPr>
              <a:t>show</a:t>
            </a:r>
            <a:r>
              <a:rPr sz="1200" b="1" spc="-24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0F2FE"/>
                </a:solidFill>
                <a:latin typeface="Verdana"/>
                <a:cs typeface="Verdana"/>
              </a:rPr>
              <a:t>filsnums.jpg </a:t>
            </a:r>
            <a:r>
              <a:rPr sz="1200" spc="-65" dirty="0">
                <a:solidFill>
                  <a:srgbClr val="9CA3AF"/>
                </a:solidFill>
                <a:latin typeface="Verdana"/>
                <a:cs typeface="Verdana"/>
              </a:rPr>
              <a:t>Instantly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strip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generate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clean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duplicate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using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command:</a:t>
            </a:r>
            <a:r>
              <a:rPr sz="1200" spc="-229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spc="-130" dirty="0">
                <a:solidFill>
                  <a:srgbClr val="00F2FE"/>
                </a:solidFill>
                <a:latin typeface="Verdana"/>
                <a:cs typeface="Verdana"/>
              </a:rPr>
              <a:t>mat2</a:t>
            </a:r>
            <a:r>
              <a:rPr sz="1200" b="1" spc="-24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b="1" spc="-30" dirty="0">
                <a:solidFill>
                  <a:srgbClr val="00F2FE"/>
                </a:solidFill>
                <a:latin typeface="Verdana"/>
                <a:cs typeface="Verdana"/>
              </a:rPr>
              <a:t>filsnums.pdf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Seamlessly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integrates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with</a:t>
            </a:r>
            <a:r>
              <a:rPr sz="1200" spc="-20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F2FE"/>
                </a:solidFill>
                <a:latin typeface="Verdana"/>
                <a:cs typeface="Verdana"/>
              </a:rPr>
              <a:t>SOC</a:t>
            </a:r>
            <a:r>
              <a:rPr sz="1200" b="1" spc="-285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playbooks,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automated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forensics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networks,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bulk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scripts.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15650" y="6507208"/>
            <a:ext cx="678180" cy="137160"/>
          </a:xfrm>
          <a:custGeom>
            <a:avLst/>
            <a:gdLst/>
            <a:ahLst/>
            <a:cxnLst/>
            <a:rect l="l" t="t" r="r" b="b"/>
            <a:pathLst>
              <a:path w="678179" h="137159">
                <a:moveTo>
                  <a:pt x="677684" y="137160"/>
                </a:moveTo>
                <a:lnTo>
                  <a:pt x="0" y="137160"/>
                </a:lnTo>
                <a:lnTo>
                  <a:pt x="0" y="0"/>
                </a:lnTo>
                <a:lnTo>
                  <a:pt x="677684" y="0"/>
                </a:lnTo>
                <a:lnTo>
                  <a:pt x="677684" y="137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902950" y="6483958"/>
            <a:ext cx="703580" cy="169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Slide</a:t>
            </a:r>
            <a:r>
              <a:rPr sz="900" spc="-14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9CA3AF"/>
                </a:solidFill>
                <a:latin typeface="Verdana"/>
                <a:cs typeface="Verdana"/>
              </a:rPr>
              <a:t>06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9CA3AF"/>
                </a:solidFill>
                <a:latin typeface="Verdana"/>
                <a:cs typeface="Verdana"/>
              </a:rPr>
              <a:t>/</a:t>
            </a:r>
            <a:r>
              <a:rPr sz="900" spc="-13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pc="-180" dirty="0"/>
              <a:t>Conclusion</a:t>
            </a:r>
            <a:r>
              <a:rPr spc="-585" dirty="0"/>
              <a:t> </a:t>
            </a:r>
            <a:r>
              <a:rPr spc="-204" dirty="0"/>
              <a:t>&amp;</a:t>
            </a:r>
            <a:r>
              <a:rPr spc="-580" dirty="0"/>
              <a:t> </a:t>
            </a:r>
            <a:r>
              <a:rPr spc="-200" dirty="0"/>
              <a:t>Key</a:t>
            </a:r>
            <a:r>
              <a:rPr spc="-570" dirty="0"/>
              <a:t> </a:t>
            </a:r>
            <a:r>
              <a:rPr spc="-260" dirty="0"/>
              <a:t>Takeaways</a:t>
            </a:r>
            <a:r>
              <a:rPr spc="-590" dirty="0"/>
              <a:t> </a:t>
            </a:r>
            <a:r>
              <a:rPr b="0" spc="65" dirty="0">
                <a:solidFill>
                  <a:srgbClr val="00F2FE"/>
                </a:solidFill>
                <a:latin typeface="Verdana"/>
                <a:cs typeface="Verdana"/>
              </a:rPr>
              <a:t>06</a:t>
            </a:r>
            <a:r>
              <a:rPr b="0" spc="-42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50" dirty="0">
                <a:solidFill>
                  <a:srgbClr val="00F2FE"/>
                </a:solidFill>
                <a:latin typeface="Verdana"/>
                <a:cs typeface="Verdana"/>
              </a:rPr>
              <a:t>/ </a:t>
            </a:r>
            <a:r>
              <a:rPr b="0" spc="-100" dirty="0">
                <a:solidFill>
                  <a:srgbClr val="00F2FE"/>
                </a:solidFill>
                <a:latin typeface="Verdana"/>
                <a:cs typeface="Verdana"/>
              </a:rPr>
              <a:t>Wrap</a:t>
            </a:r>
            <a:r>
              <a:rPr b="0" spc="-430" dirty="0">
                <a:solidFill>
                  <a:srgbClr val="00F2FE"/>
                </a:solidFill>
                <a:latin typeface="Verdana"/>
                <a:cs typeface="Verdana"/>
              </a:rPr>
              <a:t> </a:t>
            </a:r>
            <a:r>
              <a:rPr b="0" spc="-25" dirty="0">
                <a:solidFill>
                  <a:srgbClr val="00F2FE"/>
                </a:solidFill>
                <a:latin typeface="Verdana"/>
                <a:cs typeface="Verdana"/>
              </a:rPr>
              <a:t>Up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Digital</a:t>
            </a:r>
            <a:r>
              <a:rPr spc="-105" dirty="0"/>
              <a:t> </a:t>
            </a:r>
            <a:r>
              <a:rPr spc="-50" dirty="0"/>
              <a:t>Exhaust</a:t>
            </a:r>
            <a:r>
              <a:rPr spc="-100" dirty="0"/>
              <a:t> </a:t>
            </a:r>
            <a:r>
              <a:rPr spc="-10" dirty="0"/>
              <a:t>Presentation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902950" y="6483958"/>
            <a:ext cx="697230" cy="169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20" dirty="0">
                <a:solidFill>
                  <a:srgbClr val="9CA3AF"/>
                </a:solidFill>
                <a:latin typeface="Verdana"/>
                <a:cs typeface="Verdana"/>
              </a:rPr>
              <a:t>Slide</a:t>
            </a:r>
            <a:r>
              <a:rPr sz="9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r>
              <a:rPr sz="9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35" dirty="0">
                <a:solidFill>
                  <a:srgbClr val="9CA3AF"/>
                </a:solidFill>
                <a:latin typeface="Verdana"/>
                <a:cs typeface="Verdana"/>
              </a:rPr>
              <a:t>/</a:t>
            </a:r>
            <a:r>
              <a:rPr sz="900" spc="-15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9CA3AF"/>
                </a:solidFill>
                <a:latin typeface="Verdana"/>
                <a:cs typeface="Verdana"/>
              </a:rPr>
              <a:t>07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1387" y="565467"/>
            <a:ext cx="1576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40" dirty="0">
                <a:solidFill>
                  <a:srgbClr val="00F2FE"/>
                </a:solidFill>
                <a:latin typeface="Trebuchet MS"/>
                <a:cs typeface="Trebuchet MS"/>
              </a:rPr>
              <a:t>DIGITAL</a:t>
            </a:r>
            <a:r>
              <a:rPr sz="1500" b="1" spc="-6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00F2FE"/>
                </a:solidFill>
                <a:latin typeface="Trebuchet MS"/>
                <a:cs typeface="Trebuchet MS"/>
              </a:rPr>
              <a:t>EXHAUST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2825" y="1617178"/>
            <a:ext cx="6861809" cy="173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7495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00F2FE"/>
                </a:solidFill>
                <a:latin typeface="Trebuchet MS"/>
                <a:cs typeface="Trebuchet MS"/>
              </a:rPr>
              <a:t>Executive</a:t>
            </a:r>
            <a:r>
              <a:rPr sz="1650" b="1" spc="14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1650" b="1" spc="40" dirty="0">
                <a:solidFill>
                  <a:srgbClr val="00F2FE"/>
                </a:solidFill>
                <a:latin typeface="Trebuchet MS"/>
                <a:cs typeface="Trebuchet MS"/>
              </a:rPr>
              <a:t>Summary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ts val="2910"/>
              </a:lnSpc>
              <a:spcBef>
                <a:spcPts val="135"/>
              </a:spcBef>
            </a:pP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Digital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exhaust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presents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hidden,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persistent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vulnerability</a:t>
            </a:r>
            <a:r>
              <a:rPr sz="1200" spc="-22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to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personal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organizational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privacy.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reveals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sensitive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geographic,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device,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9CA3AF"/>
                </a:solidFill>
                <a:latin typeface="Verdana"/>
                <a:cs typeface="Verdana"/>
              </a:rPr>
              <a:t>behavioral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indicators</a:t>
            </a:r>
            <a:r>
              <a:rPr sz="1200" spc="-16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9CA3AF"/>
                </a:solidFill>
                <a:latin typeface="Verdana"/>
                <a:cs typeface="Verdana"/>
              </a:rPr>
              <a:t>without</a:t>
            </a:r>
            <a:r>
              <a:rPr sz="1200" spc="-17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consent.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200" spc="-65" dirty="0">
                <a:solidFill>
                  <a:srgbClr val="9CA3AF"/>
                </a:solidFill>
                <a:latin typeface="Verdana"/>
                <a:cs typeface="Verdana"/>
              </a:rPr>
              <a:t>The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80" dirty="0">
                <a:solidFill>
                  <a:srgbClr val="9CA3AF"/>
                </a:solidFill>
                <a:latin typeface="Verdana"/>
                <a:cs typeface="Verdana"/>
              </a:rPr>
              <a:t>MAT2</a:t>
            </a:r>
            <a:r>
              <a:rPr sz="12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tool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offers</a:t>
            </a:r>
            <a:r>
              <a:rPr sz="1200" spc="-20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9CA3AF"/>
                </a:solidFill>
                <a:latin typeface="Verdana"/>
                <a:cs typeface="Verdana"/>
              </a:rPr>
              <a:t>an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eﬃcient,</a:t>
            </a:r>
            <a:r>
              <a:rPr sz="12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automated</a:t>
            </a:r>
            <a:r>
              <a:rPr sz="1200" spc="-18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defense</a:t>
            </a:r>
            <a:r>
              <a:rPr sz="1200" spc="-20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for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cleaning</a:t>
            </a:r>
            <a:r>
              <a:rPr sz="1200" spc="-19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files.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Proactive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data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hygiene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must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become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9CA3AF"/>
                </a:solidFill>
                <a:latin typeface="Verdana"/>
                <a:cs typeface="Verdana"/>
              </a:rPr>
              <a:t>a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standard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operational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practice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before</a:t>
            </a:r>
            <a:r>
              <a:rPr sz="1200" spc="-16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sharing.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3487" y="3883887"/>
            <a:ext cx="6684009" cy="94615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775"/>
              </a:spcBef>
            </a:pPr>
            <a:r>
              <a:rPr sz="2850" b="1" spc="90" dirty="0">
                <a:solidFill>
                  <a:srgbClr val="00F2FE"/>
                </a:solidFill>
                <a:latin typeface="Trebuchet MS"/>
                <a:cs typeface="Trebuchet MS"/>
              </a:rPr>
              <a:t>Any</a:t>
            </a:r>
            <a:r>
              <a:rPr sz="2850" b="1" spc="-130" dirty="0">
                <a:solidFill>
                  <a:srgbClr val="00F2FE"/>
                </a:solidFill>
                <a:latin typeface="Trebuchet MS"/>
                <a:cs typeface="Trebuchet MS"/>
              </a:rPr>
              <a:t> </a:t>
            </a:r>
            <a:r>
              <a:rPr sz="2850" b="1" spc="100" dirty="0">
                <a:solidFill>
                  <a:srgbClr val="00F2FE"/>
                </a:solidFill>
                <a:latin typeface="Trebuchet MS"/>
                <a:cs typeface="Trebuchet MS"/>
              </a:rPr>
              <a:t>Questions?</a:t>
            </a:r>
            <a:endParaRPr sz="28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We</a:t>
            </a:r>
            <a:r>
              <a:rPr sz="1200" spc="-19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9CA3AF"/>
                </a:solidFill>
                <a:latin typeface="Verdana"/>
                <a:cs typeface="Verdana"/>
              </a:rPr>
              <a:t>welcome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9CA3AF"/>
                </a:solidFill>
                <a:latin typeface="Verdana"/>
                <a:cs typeface="Verdana"/>
              </a:rPr>
              <a:t>your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9CA3AF"/>
                </a:solidFill>
                <a:latin typeface="Verdana"/>
                <a:cs typeface="Verdana"/>
              </a:rPr>
              <a:t>live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questions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9CA3AF"/>
                </a:solidFill>
                <a:latin typeface="Verdana"/>
                <a:cs typeface="Verdana"/>
              </a:rPr>
              <a:t>regarding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9CA3AF"/>
                </a:solidFill>
                <a:latin typeface="Verdana"/>
                <a:cs typeface="Verdana"/>
              </a:rPr>
              <a:t>Metadata</a:t>
            </a:r>
            <a:r>
              <a:rPr sz="1200" spc="-21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9CA3AF"/>
                </a:solidFill>
                <a:latin typeface="Verdana"/>
                <a:cs typeface="Verdana"/>
              </a:rPr>
              <a:t>Privacy,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80" dirty="0">
                <a:solidFill>
                  <a:srgbClr val="9CA3AF"/>
                </a:solidFill>
                <a:latin typeface="Verdana"/>
                <a:cs typeface="Verdana"/>
              </a:rPr>
              <a:t>MAT2,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9CA3AF"/>
                </a:solidFill>
                <a:latin typeface="Verdana"/>
                <a:cs typeface="Verdana"/>
              </a:rPr>
              <a:t>and</a:t>
            </a:r>
            <a:r>
              <a:rPr sz="1200" spc="-180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9CA3AF"/>
                </a:solidFill>
                <a:latin typeface="Verdana"/>
                <a:cs typeface="Verdana"/>
              </a:rPr>
              <a:t>Defensive</a:t>
            </a:r>
            <a:r>
              <a:rPr sz="1200" spc="-175" dirty="0">
                <a:solidFill>
                  <a:srgbClr val="9CA3A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Verdana"/>
                <a:cs typeface="Verdana"/>
              </a:rPr>
              <a:t>Workflows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850" y="480045"/>
            <a:ext cx="232156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>
                <a:latin typeface="Trebuchet MS"/>
                <a:cs typeface="Trebuchet MS"/>
              </a:rPr>
              <a:t>Image</a:t>
            </a:r>
            <a:r>
              <a:rPr spc="-85" dirty="0">
                <a:latin typeface="Trebuchet MS"/>
                <a:cs typeface="Trebuchet MS"/>
              </a:rPr>
              <a:t> </a:t>
            </a:r>
            <a:r>
              <a:rPr spc="95" dirty="0">
                <a:latin typeface="Trebuchet MS"/>
                <a:cs typeface="Trebuchet MS"/>
              </a:rPr>
              <a:t>Sources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pc="-10" dirty="0">
                <a:hlinkClick r:id="rId3"/>
              </a:rPr>
              <a:t>https://img.freepik.com/premium-</a:t>
            </a:r>
            <a:r>
              <a:rPr dirty="0">
                <a:hlinkClick r:id="rId3"/>
              </a:rPr>
              <a:t>vector/global-cybersecurity-</a:t>
            </a:r>
            <a:r>
              <a:rPr spc="-10" dirty="0">
                <a:hlinkClick r:id="rId3"/>
              </a:rPr>
              <a:t>network-background-</a:t>
            </a:r>
            <a:r>
              <a:rPr dirty="0">
                <a:hlinkClick r:id="rId3"/>
              </a:rPr>
              <a:t>with-</a:t>
            </a:r>
            <a:r>
              <a:rPr spc="-10" dirty="0">
                <a:hlinkClick r:id="rId3"/>
              </a:rPr>
              <a:t>world-map-data-connections_7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10" dirty="0"/>
              <a:t>03032−8732.jpg</a:t>
            </a: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spc="-50" dirty="0"/>
              <a:t>Source:</a:t>
            </a:r>
            <a:r>
              <a:rPr sz="1200" spc="-165" dirty="0"/>
              <a:t> </a:t>
            </a:r>
            <a:r>
              <a:rPr sz="1200" spc="-10" dirty="0">
                <a:solidFill>
                  <a:srgbClr val="4F46E5"/>
                </a:solidFill>
                <a:hlinkClick r:id="rId4"/>
              </a:rPr>
              <a:t>www.freepik.com</a:t>
            </a:r>
            <a:endParaRPr sz="1200"/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200"/>
          </a:p>
          <a:p>
            <a:pPr marL="12700">
              <a:lnSpc>
                <a:spcPct val="100000"/>
              </a:lnSpc>
            </a:pPr>
            <a:r>
              <a:rPr spc="-10" dirty="0">
                <a:hlinkClick r:id="rId5"/>
              </a:rPr>
              <a:t>https://www.inboxally.com/wp-content/uploads/2025/02/email-metadata.png</a:t>
            </a: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200" spc="-50" dirty="0"/>
              <a:t>Source:</a:t>
            </a:r>
            <a:r>
              <a:rPr sz="1200" spc="-165" dirty="0"/>
              <a:t> </a:t>
            </a:r>
            <a:r>
              <a:rPr sz="1200" spc="-10" dirty="0">
                <a:solidFill>
                  <a:srgbClr val="4F46E5"/>
                </a:solidFill>
                <a:hlinkClick r:id="rId6"/>
              </a:rPr>
              <a:t>www.inboxally.com</a:t>
            </a:r>
            <a:endParaRPr sz="1200"/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200"/>
          </a:p>
          <a:p>
            <a:pPr marL="12700">
              <a:lnSpc>
                <a:spcPct val="100000"/>
              </a:lnSpc>
            </a:pPr>
            <a:r>
              <a:rPr spc="-10" dirty="0">
                <a:hlinkClick r:id="rId7"/>
              </a:rPr>
              <a:t>https://static.vecteezy.com/system/resources/previews/067/868/466/non_2</a:t>
            </a:r>
            <a:r>
              <a:rPr spc="-10" dirty="0"/>
              <a:t>×/secure-</a:t>
            </a:r>
            <a:r>
              <a:rPr dirty="0"/>
              <a:t>shield-icons-protection-</a:t>
            </a:r>
            <a:r>
              <a:rPr spc="-10" dirty="0"/>
              <a:t>and-privacy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/>
              <a:t>-a-shield-with-a-locked-padlock-it-network-communication-technology-icon-</a:t>
            </a:r>
            <a:r>
              <a:rPr spc="-10" dirty="0"/>
              <a:t>vector.jpg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200" spc="-50" dirty="0"/>
              <a:t>Source:</a:t>
            </a:r>
            <a:r>
              <a:rPr sz="1200" spc="-165" dirty="0"/>
              <a:t> </a:t>
            </a:r>
            <a:r>
              <a:rPr sz="1200" spc="-10" dirty="0">
                <a:solidFill>
                  <a:srgbClr val="4F46E5"/>
                </a:solidFill>
                <a:hlinkClick r:id="rId8"/>
              </a:rPr>
              <a:t>www.vecteezy.com</a:t>
            </a:r>
            <a:endParaRPr sz="1200"/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200"/>
          </a:p>
          <a:p>
            <a:pPr marL="12700">
              <a:lnSpc>
                <a:spcPct val="100000"/>
              </a:lnSpc>
            </a:pPr>
            <a:r>
              <a:rPr spc="-10" dirty="0">
                <a:hlinkClick r:id="rId9"/>
              </a:rPr>
              <a:t>https://www.visily.ai/wp-content/uploads/2025/03/How-Does-a-Drag-and-Drop-Wireframe-Tool-Work_-1024</a:t>
            </a:r>
            <a:r>
              <a:rPr spc="-10" dirty="0"/>
              <a:t>×673.jpg</a:t>
            </a: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-50" dirty="0"/>
              <a:t>Source:</a:t>
            </a:r>
            <a:r>
              <a:rPr sz="1200" spc="-165" dirty="0"/>
              <a:t> </a:t>
            </a:r>
            <a:r>
              <a:rPr sz="1200" spc="-10" dirty="0">
                <a:solidFill>
                  <a:srgbClr val="4F46E5"/>
                </a:solidFill>
                <a:hlinkClick r:id="rId10"/>
              </a:rPr>
              <a:t>www.visily.ai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DIGITAL EXHAUST</vt:lpstr>
      <vt:lpstr>What Is Metadata? 01 / Concepts</vt:lpstr>
      <vt:lpstr>Introduction to MAT2 02 / Toolsets</vt:lpstr>
      <vt:lpstr>How MAT2 Works 03 / System Architecture</vt:lpstr>
      <vt:lpstr>Using MAT2 – GUI Method 04 / Workflows</vt:lpstr>
      <vt:lpstr>Using MAT2 – CLI Method 05 / Technical Workflows</vt:lpstr>
      <vt:lpstr>Conclusion &amp; Key Takeaways 06 / Wrap Up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Tahniat Farhan</cp:lastModifiedBy>
  <cp:revision>1</cp:revision>
  <dcterms:created xsi:type="dcterms:W3CDTF">2026-06-06T15:55:23Z</dcterms:created>
  <dcterms:modified xsi:type="dcterms:W3CDTF">2026-06-06T15:58:11Z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2026-06-06T00:00:00Z</vt:filetime>
  </property>
  <property fmtid="{D5CDD505-2E9C-101B-9397-08002B2CF9AE}" pid="4" name="Creator">
    <vt:lpwstr>Aspose.Slides for Java 25.7</vt:lpwstr>
  </property>
  <property fmtid="{D5CDD505-2E9C-101B-9397-08002B2CF9AE}" pid="5" name="LastSaved">
    <vt:filetime>2026-06-06T00:00:00Z</vt:filetime>
  </property>
  <property fmtid="{D5CDD505-2E9C-101B-9397-08002B2CF9AE}" pid="6" name="Producer">
    <vt:lpwstr>Aspose.Slides for Java 25.7</vt:lpwstr>
  </property>
</Properties>
</file>